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237744"/>
            <a:ext cx="1417320" cy="23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37744"/>
            <a:ext cx="86868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5B4FB5"/>
                </a:solidFill>
                <a:latin typeface="Inter"/>
                <a:cs typeface="Inter"/>
                <a:ea typeface="Inter"/>
              </a:rPr>
              <a:t>CipherOutreach  ·  DRG-Specific Longitudinal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C2660"/>
                </a:solidFill>
                <a:latin typeface="Merriweather"/>
                <a:cs typeface="Merriweather"/>
                <a:ea typeface="Merriweather"/>
              </a:rPr>
              <a:t>Patti's </a:t>
            </a:r>
            <a:r>
              <a:rPr sz="2600" b="1" i="1">
                <a:solidFill>
                  <a:srgbClr val="5B4FB5"/>
                </a:solidFill>
                <a:latin typeface="Merriweather"/>
                <a:cs typeface="Merriweather"/>
                <a:ea typeface="Merriweather"/>
              </a:rPr>
              <a:t>COPD</a:t>
            </a:r>
            <a:r>
              <a:rPr sz="2600" b="1" i="0">
                <a:solidFill>
                  <a:srgbClr val="2C2660"/>
                </a:solidFill>
                <a:latin typeface="Merriweather"/>
                <a:cs typeface="Merriweather"/>
                <a:ea typeface="Merriweather"/>
              </a:rPr>
              <a:t> Recovery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7955279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2C2660"/>
                </a:solidFill>
                <a:latin typeface="Inter"/>
                <a:cs typeface="Inter"/>
                <a:ea typeface="Inter"/>
              </a:rPr>
              <a:t>Four automated check-ins over 23 days after hospital discharge — monitoring breathing, medications, and follow-up so the care team can intervene early.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41080" y="987552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5B4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987552"/>
            <a:ext cx="141732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  <a:cs typeface="Inter"/>
                <a:ea typeface="Inter"/>
              </a:rPr>
              <a:t>23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1080" y="1335024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2C2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1335024"/>
            <a:ext cx="141732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  <a:cs typeface="Inter"/>
                <a:ea typeface="Inter"/>
              </a:rPr>
              <a:t>4 touches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600200"/>
            <a:ext cx="201168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600200"/>
            <a:ext cx="91440" cy="4572000"/>
          </a:xfrm>
          <a:prstGeom prst="rect">
            <a:avLst/>
          </a:prstGeom>
          <a:solidFill>
            <a:srgbClr val="00B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atti_ava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828800"/>
            <a:ext cx="1371600" cy="1371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3337560"/>
            <a:ext cx="1828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500" b="1" i="0">
                <a:solidFill>
                  <a:srgbClr val="2C2660"/>
                </a:solidFill>
                <a:latin typeface="Merriweather"/>
                <a:cs typeface="Merriweather"/>
                <a:ea typeface="Merriweather"/>
              </a:rPr>
              <a:t>Meet Patti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39312"/>
            <a:ext cx="18288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5B4FB5"/>
                </a:solidFill>
                <a:latin typeface="Inter"/>
                <a:cs typeface="Inter"/>
                <a:ea typeface="Inter"/>
              </a:rPr>
              <a:t>Patient journey avatar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77639"/>
            <a:ext cx="173736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100" b="0" i="0">
                <a:solidFill>
                  <a:srgbClr val="2C2660"/>
                </a:solidFill>
                <a:latin typeface="Inter"/>
                <a:cs typeface="Inter"/>
                <a:ea typeface="Inter"/>
              </a:rPr>
              <a:t>Follow Patti from discharge through each CipherOutreach touchpoint — what we ask of her at every stop along the path.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62356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BCF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623560"/>
            <a:ext cx="173736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2C2660"/>
                </a:solidFill>
                <a:latin typeface="Inter"/>
                <a:cs typeface="Inter"/>
                <a:ea typeface="Inter"/>
              </a:rPr>
              <a:t>Linear recovery path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24328" y="2130552"/>
            <a:ext cx="9244584" cy="402336"/>
          </a:xfrm>
          <a:prstGeom prst="roundRect">
            <a:avLst>
              <a:gd name="adj" fmla="val 50000"/>
            </a:avLst>
          </a:prstGeom>
          <a:solidFill>
            <a:srgbClr val="BCF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697480" y="2299716"/>
            <a:ext cx="9098280" cy="64008"/>
          </a:xfrm>
          <a:prstGeom prst="roundRect">
            <a:avLst/>
          </a:prstGeom>
          <a:solidFill>
            <a:srgbClr val="00B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46604" y="2112264"/>
            <a:ext cx="438912" cy="4389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83180" y="2148840"/>
            <a:ext cx="365760" cy="365760"/>
          </a:xfrm>
          <a:prstGeom prst="ellipse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83180" y="214884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2C2660"/>
                </a:solidFill>
                <a:latin typeface="Inter"/>
                <a:cs typeface="Inter"/>
                <a:ea typeface="Inter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55088" y="2514600"/>
            <a:ext cx="21945" cy="36576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606040" y="2880360"/>
            <a:ext cx="1768449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06040" y="2880360"/>
            <a:ext cx="1768449" cy="8229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078784" y="3081528"/>
            <a:ext cx="822960" cy="256032"/>
          </a:xfrm>
          <a:prstGeom prst="roundRect">
            <a:avLst>
              <a:gd name="adj" fmla="val 35000"/>
            </a:avLst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78784" y="3081528"/>
            <a:ext cx="82296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2C2660"/>
                </a:solidFill>
                <a:latin typeface="Inter"/>
                <a:cs typeface="Inter"/>
                <a:ea typeface="Inter"/>
              </a:rPr>
              <a:t>Day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3429000"/>
            <a:ext cx="1585569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2C2660"/>
                </a:solidFill>
                <a:latin typeface="Merriweather"/>
                <a:cs typeface="Merriweather"/>
                <a:ea typeface="Merriweather"/>
              </a:rPr>
              <a:t>Hospital Discharge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15768" y="4114800"/>
            <a:ext cx="1548993" cy="1874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000" b="0" i="0">
                <a:solidFill>
                  <a:srgbClr val="2C2660"/>
                </a:solidFill>
                <a:latin typeface="Inter"/>
                <a:cs typeface="Inter"/>
                <a:ea typeface="Inter"/>
              </a:rPr>
              <a:t>Patti leaves the hospital and is enrolled in CipherOutreach COPD recovery outreach.</a:t>
            </a:r>
          </a:p>
        </p:txBody>
      </p:sp>
      <p:sp>
        <p:nvSpPr>
          <p:cNvPr id="31" name="Oval 30"/>
          <p:cNvSpPr/>
          <p:nvPr/>
        </p:nvSpPr>
        <p:spPr>
          <a:xfrm>
            <a:off x="4786884" y="2112264"/>
            <a:ext cx="438912" cy="4389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B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23460" y="2148840"/>
            <a:ext cx="365760" cy="365760"/>
          </a:xfrm>
          <a:prstGeom prst="ellipse">
            <a:avLst/>
          </a:prstGeom>
          <a:solidFill>
            <a:srgbClr val="5B4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23460" y="214884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  <a:cs typeface="Inter"/>
                <a:ea typeface="Inter"/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95368" y="2514600"/>
            <a:ext cx="21945" cy="365760"/>
          </a:xfrm>
          <a:prstGeom prst="rect">
            <a:avLst/>
          </a:prstGeom>
          <a:solidFill>
            <a:srgbClr val="00B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484217" y="2880360"/>
            <a:ext cx="1768449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84217" y="2880360"/>
            <a:ext cx="1768449" cy="82296"/>
          </a:xfrm>
          <a:prstGeom prst="rect">
            <a:avLst/>
          </a:prstGeom>
          <a:solidFill>
            <a:srgbClr val="00B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956962" y="3081528"/>
            <a:ext cx="822960" cy="256032"/>
          </a:xfrm>
          <a:prstGeom prst="roundRect">
            <a:avLst>
              <a:gd name="adj" fmla="val 35000"/>
            </a:avLst>
          </a:prstGeom>
          <a:solidFill>
            <a:srgbClr val="5B4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56962" y="3081528"/>
            <a:ext cx="82296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  <a:cs typeface="Inter"/>
                <a:ea typeface="Inter"/>
              </a:rPr>
              <a:t>Day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5657" y="3429000"/>
            <a:ext cx="1585569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2C2660"/>
                </a:solidFill>
                <a:latin typeface="Merriweather"/>
                <a:cs typeface="Merriweather"/>
                <a:ea typeface="Merriweather"/>
              </a:rPr>
              <a:t>Initial Recovery Check-In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93945" y="4114800"/>
            <a:ext cx="1548993" cy="1874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000" b="0" i="0">
                <a:solidFill>
                  <a:srgbClr val="2C2660"/>
                </a:solidFill>
                <a:latin typeface="Inter"/>
                <a:cs typeface="Inter"/>
                <a:ea typeface="Inter"/>
              </a:rPr>
              <a:t>Asks how she's feeling, care-instruction understanding, smoking status, medications, shortness of breath, and follow-up scheduling.</a:t>
            </a:r>
          </a:p>
        </p:txBody>
      </p:sp>
      <p:sp>
        <p:nvSpPr>
          <p:cNvPr id="41" name="Oval 40"/>
          <p:cNvSpPr/>
          <p:nvPr/>
        </p:nvSpPr>
        <p:spPr>
          <a:xfrm>
            <a:off x="7027164" y="2112264"/>
            <a:ext cx="438912" cy="4389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B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063740" y="2148840"/>
            <a:ext cx="365760" cy="365760"/>
          </a:xfrm>
          <a:prstGeom prst="ellipse">
            <a:avLst/>
          </a:prstGeom>
          <a:solidFill>
            <a:srgbClr val="5B4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63740" y="214884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  <a:cs typeface="Inter"/>
                <a:ea typeface="Inter"/>
              </a:rPr>
              <a:t>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35648" y="2514600"/>
            <a:ext cx="21945" cy="365760"/>
          </a:xfrm>
          <a:prstGeom prst="rect">
            <a:avLst/>
          </a:prstGeom>
          <a:solidFill>
            <a:srgbClr val="00B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362395" y="2880360"/>
            <a:ext cx="1768449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62395" y="2880360"/>
            <a:ext cx="1768449" cy="82296"/>
          </a:xfrm>
          <a:prstGeom prst="rect">
            <a:avLst/>
          </a:prstGeom>
          <a:solidFill>
            <a:srgbClr val="00B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835140" y="3081528"/>
            <a:ext cx="822960" cy="256032"/>
          </a:xfrm>
          <a:prstGeom prst="roundRect">
            <a:avLst>
              <a:gd name="adj" fmla="val 35000"/>
            </a:avLst>
          </a:prstGeom>
          <a:solidFill>
            <a:srgbClr val="5B4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35140" y="3081528"/>
            <a:ext cx="82296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  <a:cs typeface="Inter"/>
                <a:ea typeface="Inter"/>
              </a:rPr>
              <a:t>Day 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53835" y="3429000"/>
            <a:ext cx="1585569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2C2660"/>
                </a:solidFill>
                <a:latin typeface="Merriweather"/>
                <a:cs typeface="Merriweather"/>
                <a:ea typeface="Merriweather"/>
              </a:rPr>
              <a:t>Early Progress Check-In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2123" y="4114800"/>
            <a:ext cx="1548993" cy="1874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000" b="0" i="0">
                <a:solidFill>
                  <a:srgbClr val="2C2660"/>
                </a:solidFill>
                <a:latin typeface="Inter"/>
                <a:cs typeface="Inter"/>
                <a:ea typeface="Inter"/>
              </a:rPr>
              <a:t>Checks improvement since discharge, breathing progress, medication adherence, and whether her follow-up visit is complete.</a:t>
            </a:r>
          </a:p>
        </p:txBody>
      </p:sp>
      <p:sp>
        <p:nvSpPr>
          <p:cNvPr id="51" name="Oval 50"/>
          <p:cNvSpPr/>
          <p:nvPr/>
        </p:nvSpPr>
        <p:spPr>
          <a:xfrm>
            <a:off x="9267444" y="2112264"/>
            <a:ext cx="438912" cy="4389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B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304020" y="2148840"/>
            <a:ext cx="365760" cy="365760"/>
          </a:xfrm>
          <a:prstGeom prst="ellipse">
            <a:avLst/>
          </a:prstGeom>
          <a:solidFill>
            <a:srgbClr val="5B4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04020" y="214884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  <a:cs typeface="Inter"/>
                <a:ea typeface="Inter"/>
              </a:rPr>
              <a:t>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75928" y="2514600"/>
            <a:ext cx="21945" cy="365760"/>
          </a:xfrm>
          <a:prstGeom prst="rect">
            <a:avLst/>
          </a:prstGeom>
          <a:solidFill>
            <a:srgbClr val="00B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240572" y="2880360"/>
            <a:ext cx="1768449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40572" y="2880360"/>
            <a:ext cx="1768449" cy="82296"/>
          </a:xfrm>
          <a:prstGeom prst="rect">
            <a:avLst/>
          </a:prstGeom>
          <a:solidFill>
            <a:srgbClr val="00B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713317" y="3081528"/>
            <a:ext cx="822960" cy="256032"/>
          </a:xfrm>
          <a:prstGeom prst="roundRect">
            <a:avLst>
              <a:gd name="adj" fmla="val 35000"/>
            </a:avLst>
          </a:prstGeom>
          <a:solidFill>
            <a:srgbClr val="5B4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13317" y="3081528"/>
            <a:ext cx="82296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  <a:cs typeface="Inter"/>
                <a:ea typeface="Inter"/>
              </a:rPr>
              <a:t>Day 16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32012" y="3429000"/>
            <a:ext cx="1585569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2C2660"/>
                </a:solidFill>
                <a:latin typeface="Merriweather"/>
                <a:cs typeface="Merriweather"/>
                <a:ea typeface="Merriweather"/>
              </a:rPr>
              <a:t>Continued Recovery Check-In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50300" y="4114800"/>
            <a:ext cx="1548993" cy="1874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000" b="0" i="0">
                <a:solidFill>
                  <a:srgbClr val="2C2660"/>
                </a:solidFill>
                <a:latin typeface="Inter"/>
                <a:cs typeface="Inter"/>
                <a:ea typeface="Inter"/>
              </a:rPr>
              <a:t>Reassesses how she feels, shortness of breath over the last week, and daily medication adherence — plus a quit-smoking resource.</a:t>
            </a:r>
          </a:p>
        </p:txBody>
      </p:sp>
      <p:sp>
        <p:nvSpPr>
          <p:cNvPr id="61" name="Oval 60"/>
          <p:cNvSpPr/>
          <p:nvPr/>
        </p:nvSpPr>
        <p:spPr>
          <a:xfrm>
            <a:off x="11507724" y="2112264"/>
            <a:ext cx="438912" cy="4389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B5C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544300" y="2148840"/>
            <a:ext cx="365760" cy="365760"/>
          </a:xfrm>
          <a:prstGeom prst="ellipse">
            <a:avLst/>
          </a:prstGeom>
          <a:solidFill>
            <a:srgbClr val="B5C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544300" y="214884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2C2660"/>
                </a:solidFill>
                <a:latin typeface="Inter"/>
                <a:cs typeface="Inter"/>
                <a:ea typeface="Inter"/>
              </a:rPr>
              <a:t>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716208" y="2514600"/>
            <a:ext cx="21945" cy="365760"/>
          </a:xfrm>
          <a:prstGeom prst="rect">
            <a:avLst/>
          </a:prstGeom>
          <a:solidFill>
            <a:srgbClr val="B5C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0118750" y="2880360"/>
            <a:ext cx="1768449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118750" y="2880360"/>
            <a:ext cx="1768449" cy="82296"/>
          </a:xfrm>
          <a:prstGeom prst="rect">
            <a:avLst/>
          </a:prstGeom>
          <a:solidFill>
            <a:srgbClr val="B5C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0591495" y="3081528"/>
            <a:ext cx="822960" cy="256032"/>
          </a:xfrm>
          <a:prstGeom prst="roundRect">
            <a:avLst>
              <a:gd name="adj" fmla="val 35000"/>
            </a:avLst>
          </a:prstGeom>
          <a:solidFill>
            <a:srgbClr val="B5C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591495" y="3081528"/>
            <a:ext cx="82296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2C2660"/>
                </a:solidFill>
                <a:latin typeface="Inter"/>
                <a:cs typeface="Inter"/>
                <a:ea typeface="Inter"/>
              </a:rPr>
              <a:t>Day 23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210190" y="3429000"/>
            <a:ext cx="1585569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2C2660"/>
                </a:solidFill>
                <a:latin typeface="Merriweather"/>
                <a:cs typeface="Merriweather"/>
                <a:ea typeface="Merriweather"/>
              </a:rPr>
              <a:t>Final Recovery Check-In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228478" y="4114800"/>
            <a:ext cx="1548993" cy="1874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000" b="0" i="0">
                <a:solidFill>
                  <a:srgbClr val="2C2660"/>
                </a:solidFill>
                <a:latin typeface="Inter"/>
                <a:cs typeface="Inter"/>
                <a:ea typeface="Inter"/>
              </a:rPr>
              <a:t>Closing check on how she feels versus discharge, breathing, and medication adherence — then thanks her for completing the series.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5B4FB5"/>
                </a:solidFill>
                <a:latin typeface="Inter"/>
                <a:cs typeface="Inter"/>
                <a:ea typeface="Inter"/>
              </a:rPr>
              <a:t>Patient journey  ·  CipherOutreach touchpoints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40480" y="6446520"/>
            <a:ext cx="4572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2C2660"/>
                </a:solidFill>
                <a:latin typeface="Inter"/>
                <a:cs typeface="Inter"/>
                <a:ea typeface="Inter"/>
              </a:rPr>
              <a:t>CIPHERHEALTH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237744"/>
            <a:ext cx="1417320" cy="231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37744"/>
            <a:ext cx="86868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5B4FB5"/>
                </a:solidFill>
                <a:latin typeface="Inter"/>
                <a:cs typeface="Inter"/>
                <a:ea typeface="Inter"/>
              </a:rPr>
              <a:t>CipherOutreach  ·  DRG-Specific Longitudinal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C2660"/>
                </a:solidFill>
                <a:latin typeface="Merriweather"/>
                <a:cs typeface="Merriweather"/>
                <a:ea typeface="Merriweather"/>
              </a:rPr>
              <a:t>Patti's </a:t>
            </a:r>
            <a:r>
              <a:rPr sz="2600" b="1" i="1">
                <a:solidFill>
                  <a:srgbClr val="5B4FB5"/>
                </a:solidFill>
                <a:latin typeface="Merriweather"/>
                <a:cs typeface="Merriweather"/>
                <a:ea typeface="Merriweather"/>
              </a:rPr>
              <a:t>CHF</a:t>
            </a:r>
            <a:r>
              <a:rPr sz="2600" b="1" i="0">
                <a:solidFill>
                  <a:srgbClr val="2C2660"/>
                </a:solidFill>
                <a:latin typeface="Merriweather"/>
                <a:cs typeface="Merriweather"/>
                <a:ea typeface="Merriweather"/>
              </a:rPr>
              <a:t> Recovery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7955279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2C2660"/>
                </a:solidFill>
                <a:latin typeface="Inter"/>
                <a:cs typeface="Inter"/>
                <a:ea typeface="Inter"/>
              </a:rPr>
              <a:t>Five automated check-ins over 30 days after hospital discharge — tracking weight, breathing, diet, medications, and warning symptoms with care-team escalation when needed.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41080" y="987552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5B4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987552"/>
            <a:ext cx="141732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  <a:cs typeface="Inter"/>
                <a:ea typeface="Inter"/>
              </a:rPr>
              <a:t>30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1080" y="1335024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2C2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1335024"/>
            <a:ext cx="141732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  <a:cs typeface="Inter"/>
                <a:ea typeface="Inter"/>
              </a:rPr>
              <a:t>5 touches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600200"/>
            <a:ext cx="201168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600200"/>
            <a:ext cx="91440" cy="4572000"/>
          </a:xfrm>
          <a:prstGeom prst="rect">
            <a:avLst/>
          </a:prstGeom>
          <a:solidFill>
            <a:srgbClr val="00B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atti_ava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828800"/>
            <a:ext cx="1371600" cy="1371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3337560"/>
            <a:ext cx="1828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500" b="1" i="0">
                <a:solidFill>
                  <a:srgbClr val="2C2660"/>
                </a:solidFill>
                <a:latin typeface="Merriweather"/>
                <a:cs typeface="Merriweather"/>
                <a:ea typeface="Merriweather"/>
              </a:rPr>
              <a:t>Meet Patti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39312"/>
            <a:ext cx="18288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5B4FB5"/>
                </a:solidFill>
                <a:latin typeface="Inter"/>
                <a:cs typeface="Inter"/>
                <a:ea typeface="Inter"/>
              </a:rPr>
              <a:t>Patient journey avatar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77639"/>
            <a:ext cx="173736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100" b="0" i="0">
                <a:solidFill>
                  <a:srgbClr val="2C2660"/>
                </a:solidFill>
                <a:latin typeface="Inter"/>
                <a:cs typeface="Inter"/>
                <a:ea typeface="Inter"/>
              </a:rPr>
              <a:t>Follow Patti from discharge through each CipherOutreach touchpoint — what we ask of her at every stop along the path.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62356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BCF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623560"/>
            <a:ext cx="173736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2C2660"/>
                </a:solidFill>
                <a:latin typeface="Inter"/>
                <a:cs typeface="Inter"/>
                <a:ea typeface="Inter"/>
              </a:rPr>
              <a:t>Linear recovery path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24328" y="2130552"/>
            <a:ext cx="9244584" cy="402336"/>
          </a:xfrm>
          <a:prstGeom prst="roundRect">
            <a:avLst>
              <a:gd name="adj" fmla="val 50000"/>
            </a:avLst>
          </a:prstGeom>
          <a:solidFill>
            <a:srgbClr val="BCF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697480" y="2299716"/>
            <a:ext cx="9098280" cy="64008"/>
          </a:xfrm>
          <a:prstGeom prst="roundRect">
            <a:avLst/>
          </a:prstGeom>
          <a:solidFill>
            <a:srgbClr val="00B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46604" y="2112264"/>
            <a:ext cx="438912" cy="4389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83180" y="2148840"/>
            <a:ext cx="365760" cy="365760"/>
          </a:xfrm>
          <a:prstGeom prst="ellipse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83180" y="214884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2C2660"/>
                </a:solidFill>
                <a:latin typeface="Inter"/>
                <a:cs typeface="Inter"/>
                <a:ea typeface="Inter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55088" y="2514600"/>
            <a:ext cx="21945" cy="36576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606040" y="2880360"/>
            <a:ext cx="14554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06040" y="2880360"/>
            <a:ext cx="1455420" cy="8229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922270" y="3081528"/>
            <a:ext cx="822960" cy="256032"/>
          </a:xfrm>
          <a:prstGeom prst="roundRect">
            <a:avLst>
              <a:gd name="adj" fmla="val 35000"/>
            </a:avLst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2270" y="3081528"/>
            <a:ext cx="82296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2C2660"/>
                </a:solidFill>
                <a:latin typeface="Inter"/>
                <a:cs typeface="Inter"/>
                <a:ea typeface="Inter"/>
              </a:rPr>
              <a:t>Day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3429000"/>
            <a:ext cx="12725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2C2660"/>
                </a:solidFill>
                <a:latin typeface="Merriweather"/>
                <a:cs typeface="Merriweather"/>
                <a:ea typeface="Merriweather"/>
              </a:rPr>
              <a:t>Hospital Discharge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15768" y="4114800"/>
            <a:ext cx="1235964" cy="1874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00" b="0" i="0">
                <a:solidFill>
                  <a:srgbClr val="2C2660"/>
                </a:solidFill>
                <a:latin typeface="Inter"/>
                <a:cs typeface="Inter"/>
                <a:ea typeface="Inter"/>
              </a:rPr>
              <a:t>Patti leaves the hospital and is enrolled in CipherOutreach CHF post-discharge recovery outreach.</a:t>
            </a:r>
          </a:p>
        </p:txBody>
      </p:sp>
      <p:sp>
        <p:nvSpPr>
          <p:cNvPr id="31" name="Oval 30"/>
          <p:cNvSpPr/>
          <p:nvPr/>
        </p:nvSpPr>
        <p:spPr>
          <a:xfrm>
            <a:off x="4338828" y="2112264"/>
            <a:ext cx="438912" cy="4389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B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75404" y="2148840"/>
            <a:ext cx="365760" cy="365760"/>
          </a:xfrm>
          <a:prstGeom prst="ellipse">
            <a:avLst/>
          </a:prstGeom>
          <a:solidFill>
            <a:srgbClr val="5B4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75404" y="214884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  <a:cs typeface="Inter"/>
                <a:ea typeface="Inter"/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47312" y="2514600"/>
            <a:ext cx="21945" cy="365760"/>
          </a:xfrm>
          <a:prstGeom prst="rect">
            <a:avLst/>
          </a:prstGeom>
          <a:solidFill>
            <a:srgbClr val="00B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171188" y="2880360"/>
            <a:ext cx="14554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71188" y="2880360"/>
            <a:ext cx="1455420" cy="82296"/>
          </a:xfrm>
          <a:prstGeom prst="rect">
            <a:avLst/>
          </a:prstGeom>
          <a:solidFill>
            <a:srgbClr val="00B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487418" y="3081528"/>
            <a:ext cx="822960" cy="256032"/>
          </a:xfrm>
          <a:prstGeom prst="roundRect">
            <a:avLst>
              <a:gd name="adj" fmla="val 35000"/>
            </a:avLst>
          </a:prstGeom>
          <a:solidFill>
            <a:srgbClr val="5B4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7418" y="3081528"/>
            <a:ext cx="82296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  <a:cs typeface="Inter"/>
                <a:ea typeface="Inter"/>
              </a:rPr>
              <a:t>Day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62628" y="3429000"/>
            <a:ext cx="12725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2C2660"/>
                </a:solidFill>
                <a:latin typeface="Merriweather"/>
                <a:cs typeface="Merriweather"/>
                <a:ea typeface="Merriweather"/>
              </a:rPr>
              <a:t>Initial CHF Recovery Check-In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80916" y="4114800"/>
            <a:ext cx="1235964" cy="1874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00" b="0" i="0">
                <a:solidFill>
                  <a:srgbClr val="2C2660"/>
                </a:solidFill>
                <a:latin typeface="Inter"/>
                <a:cs typeface="Inter"/>
                <a:ea typeface="Inter"/>
              </a:rPr>
              <a:t>Asks about how she feels, rapid weight gain, SOB, follow-up, low-salt diet, medications, care instructions, home health, and warning symptoms.</a:t>
            </a:r>
          </a:p>
        </p:txBody>
      </p:sp>
      <p:sp>
        <p:nvSpPr>
          <p:cNvPr id="41" name="Oval 40"/>
          <p:cNvSpPr/>
          <p:nvPr/>
        </p:nvSpPr>
        <p:spPr>
          <a:xfrm>
            <a:off x="6131052" y="2112264"/>
            <a:ext cx="438912" cy="4389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B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167628" y="2148840"/>
            <a:ext cx="365760" cy="365760"/>
          </a:xfrm>
          <a:prstGeom prst="ellipse">
            <a:avLst/>
          </a:prstGeom>
          <a:solidFill>
            <a:srgbClr val="5B4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67628" y="214884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  <a:cs typeface="Inter"/>
                <a:ea typeface="Inter"/>
              </a:rPr>
              <a:t>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39536" y="2514600"/>
            <a:ext cx="21945" cy="365760"/>
          </a:xfrm>
          <a:prstGeom prst="rect">
            <a:avLst/>
          </a:prstGeom>
          <a:solidFill>
            <a:srgbClr val="00B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736336" y="2880360"/>
            <a:ext cx="14554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736336" y="2880360"/>
            <a:ext cx="1455420" cy="82296"/>
          </a:xfrm>
          <a:prstGeom prst="rect">
            <a:avLst/>
          </a:prstGeom>
          <a:solidFill>
            <a:srgbClr val="00B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052566" y="3081528"/>
            <a:ext cx="822960" cy="256032"/>
          </a:xfrm>
          <a:prstGeom prst="roundRect">
            <a:avLst>
              <a:gd name="adj" fmla="val 35000"/>
            </a:avLst>
          </a:prstGeom>
          <a:solidFill>
            <a:srgbClr val="5B4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52566" y="3081528"/>
            <a:ext cx="82296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  <a:cs typeface="Inter"/>
                <a:ea typeface="Inter"/>
              </a:rPr>
              <a:t>Day 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27776" y="3429000"/>
            <a:ext cx="12725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2C2660"/>
                </a:solidFill>
                <a:latin typeface="Merriweather"/>
                <a:cs typeface="Merriweather"/>
                <a:ea typeface="Merriweather"/>
              </a:rPr>
              <a:t>Early Progress Check-In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6064" y="4114800"/>
            <a:ext cx="1235964" cy="1874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00" b="0" i="0">
                <a:solidFill>
                  <a:srgbClr val="2C2660"/>
                </a:solidFill>
                <a:latin typeface="Inter"/>
                <a:cs typeface="Inter"/>
                <a:ea typeface="Inter"/>
              </a:rPr>
              <a:t>Rechecks daily weight trend, activity-limiting SOB, medication adherence, low-salt diet, home health, follow-up status, and CHF symptoms.</a:t>
            </a:r>
          </a:p>
        </p:txBody>
      </p:sp>
      <p:sp>
        <p:nvSpPr>
          <p:cNvPr id="51" name="Oval 50"/>
          <p:cNvSpPr/>
          <p:nvPr/>
        </p:nvSpPr>
        <p:spPr>
          <a:xfrm>
            <a:off x="7923276" y="2112264"/>
            <a:ext cx="438912" cy="4389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B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959852" y="2148840"/>
            <a:ext cx="365760" cy="365760"/>
          </a:xfrm>
          <a:prstGeom prst="ellipse">
            <a:avLst/>
          </a:prstGeom>
          <a:solidFill>
            <a:srgbClr val="5B4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59852" y="214884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  <a:cs typeface="Inter"/>
                <a:ea typeface="Inter"/>
              </a:rPr>
              <a:t>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31760" y="2514600"/>
            <a:ext cx="21945" cy="365760"/>
          </a:xfrm>
          <a:prstGeom prst="rect">
            <a:avLst/>
          </a:prstGeom>
          <a:solidFill>
            <a:srgbClr val="00B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301484" y="2880360"/>
            <a:ext cx="14554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301484" y="2880360"/>
            <a:ext cx="1455420" cy="82296"/>
          </a:xfrm>
          <a:prstGeom prst="rect">
            <a:avLst/>
          </a:prstGeom>
          <a:solidFill>
            <a:srgbClr val="00B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617714" y="3081528"/>
            <a:ext cx="822960" cy="256032"/>
          </a:xfrm>
          <a:prstGeom prst="roundRect">
            <a:avLst>
              <a:gd name="adj" fmla="val 35000"/>
            </a:avLst>
          </a:prstGeom>
          <a:solidFill>
            <a:srgbClr val="5B4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17714" y="3081528"/>
            <a:ext cx="82296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  <a:cs typeface="Inter"/>
                <a:ea typeface="Inter"/>
              </a:rPr>
              <a:t>Day 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92924" y="3429000"/>
            <a:ext cx="12725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2C2660"/>
                </a:solidFill>
                <a:latin typeface="Merriweather"/>
                <a:cs typeface="Merriweather"/>
                <a:ea typeface="Merriweather"/>
              </a:rPr>
              <a:t>Continued Recovery Check-In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11212" y="4114800"/>
            <a:ext cx="1235964" cy="1874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00" b="0" i="0">
                <a:solidFill>
                  <a:srgbClr val="2C2660"/>
                </a:solidFill>
                <a:latin typeface="Inter"/>
                <a:cs typeface="Inter"/>
                <a:ea typeface="Inter"/>
              </a:rPr>
              <a:t>Reinforces daily weigh-ins, breathing, medication adherence, low-salt diet, and any swelling, chest pain, coughing, or tiredness.</a:t>
            </a:r>
          </a:p>
        </p:txBody>
      </p:sp>
      <p:sp>
        <p:nvSpPr>
          <p:cNvPr id="61" name="Oval 60"/>
          <p:cNvSpPr/>
          <p:nvPr/>
        </p:nvSpPr>
        <p:spPr>
          <a:xfrm>
            <a:off x="9715500" y="2112264"/>
            <a:ext cx="438912" cy="4389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B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752076" y="2148840"/>
            <a:ext cx="365760" cy="365760"/>
          </a:xfrm>
          <a:prstGeom prst="ellipse">
            <a:avLst/>
          </a:prstGeom>
          <a:solidFill>
            <a:srgbClr val="5B4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2076" y="214884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  <a:cs typeface="Inter"/>
                <a:ea typeface="Inter"/>
              </a:rPr>
              <a:t>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923984" y="2514600"/>
            <a:ext cx="21945" cy="365760"/>
          </a:xfrm>
          <a:prstGeom prst="rect">
            <a:avLst/>
          </a:prstGeom>
          <a:solidFill>
            <a:srgbClr val="00B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8866632" y="2880360"/>
            <a:ext cx="14554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866632" y="2880360"/>
            <a:ext cx="1455420" cy="82296"/>
          </a:xfrm>
          <a:prstGeom prst="rect">
            <a:avLst/>
          </a:prstGeom>
          <a:solidFill>
            <a:srgbClr val="00B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9182862" y="3081528"/>
            <a:ext cx="822960" cy="256032"/>
          </a:xfrm>
          <a:prstGeom prst="roundRect">
            <a:avLst>
              <a:gd name="adj" fmla="val 35000"/>
            </a:avLst>
          </a:prstGeom>
          <a:solidFill>
            <a:srgbClr val="5B4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82862" y="3081528"/>
            <a:ext cx="82296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  <a:cs typeface="Inter"/>
                <a:ea typeface="Inter"/>
              </a:rPr>
              <a:t>Day 21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58072" y="3429000"/>
            <a:ext cx="12725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2C2660"/>
                </a:solidFill>
                <a:latin typeface="Merriweather"/>
                <a:cs typeface="Merriweather"/>
                <a:ea typeface="Merriweather"/>
              </a:rPr>
              <a:t>Late Recovery Check-In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76360" y="4114800"/>
            <a:ext cx="1235964" cy="1874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00" b="0" i="0">
                <a:solidFill>
                  <a:srgbClr val="2C2660"/>
                </a:solidFill>
                <a:latin typeface="Inter"/>
                <a:cs typeface="Inter"/>
                <a:ea typeface="Inter"/>
              </a:rPr>
              <a:t>Continues monitoring weight, shortness of breath, medications, diet adherence, and CHF warning symptoms as recovery progresses.</a:t>
            </a:r>
          </a:p>
        </p:txBody>
      </p:sp>
      <p:sp>
        <p:nvSpPr>
          <p:cNvPr id="71" name="Oval 70"/>
          <p:cNvSpPr/>
          <p:nvPr/>
        </p:nvSpPr>
        <p:spPr>
          <a:xfrm>
            <a:off x="11507724" y="2112264"/>
            <a:ext cx="438912" cy="4389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B5C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1544300" y="2148840"/>
            <a:ext cx="365760" cy="365760"/>
          </a:xfrm>
          <a:prstGeom prst="ellipse">
            <a:avLst/>
          </a:prstGeom>
          <a:solidFill>
            <a:srgbClr val="B5C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544300" y="214884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2C2660"/>
                </a:solidFill>
                <a:latin typeface="Inter"/>
                <a:cs typeface="Inter"/>
                <a:ea typeface="Inter"/>
              </a:rPr>
              <a:t>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1716208" y="2514600"/>
            <a:ext cx="21945" cy="365760"/>
          </a:xfrm>
          <a:prstGeom prst="rect">
            <a:avLst/>
          </a:prstGeom>
          <a:solidFill>
            <a:srgbClr val="B5C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0431780" y="2880360"/>
            <a:ext cx="14554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431780" y="2880360"/>
            <a:ext cx="1455420" cy="82296"/>
          </a:xfrm>
          <a:prstGeom prst="rect">
            <a:avLst/>
          </a:prstGeom>
          <a:solidFill>
            <a:srgbClr val="B5C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0748010" y="3081528"/>
            <a:ext cx="822960" cy="256032"/>
          </a:xfrm>
          <a:prstGeom prst="roundRect">
            <a:avLst>
              <a:gd name="adj" fmla="val 35000"/>
            </a:avLst>
          </a:prstGeom>
          <a:solidFill>
            <a:srgbClr val="B5C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748010" y="3081528"/>
            <a:ext cx="82296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2C2660"/>
                </a:solidFill>
                <a:latin typeface="Inter"/>
                <a:cs typeface="Inter"/>
                <a:ea typeface="Inter"/>
              </a:rPr>
              <a:t>Day 30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523220" y="3429000"/>
            <a:ext cx="12725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100" b="1" i="0">
                <a:solidFill>
                  <a:srgbClr val="2C2660"/>
                </a:solidFill>
                <a:latin typeface="Merriweather"/>
                <a:cs typeface="Merriweather"/>
                <a:ea typeface="Merriweather"/>
              </a:rPr>
              <a:t>Final Recovery Check-In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541508" y="4114800"/>
            <a:ext cx="1235964" cy="1874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00" b="0" i="0">
                <a:solidFill>
                  <a:srgbClr val="2C2660"/>
                </a:solidFill>
                <a:latin typeface="Inter"/>
                <a:cs typeface="Inter"/>
                <a:ea typeface="Inter"/>
              </a:rPr>
              <a:t>Final check on weight stability, breathing, medications, diet, and symptoms — then closes the 30-day recovery journey.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5B4FB5"/>
                </a:solidFill>
                <a:latin typeface="Inter"/>
                <a:cs typeface="Inter"/>
                <a:ea typeface="Inter"/>
              </a:rPr>
              <a:t>Patient journey  ·  CipherOutreach touchpoints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40480" y="6446520"/>
            <a:ext cx="4572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2C2660"/>
                </a:solidFill>
                <a:latin typeface="Inter"/>
                <a:cs typeface="Inter"/>
                <a:ea typeface="Inter"/>
              </a:rPr>
              <a:t>CIPHERHEALTH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